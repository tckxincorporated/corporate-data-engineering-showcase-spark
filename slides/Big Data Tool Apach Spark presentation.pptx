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92" r:id="rId5"/>
    <p:sldId id="299" r:id="rId6"/>
    <p:sldId id="261" r:id="rId7"/>
    <p:sldId id="301" r:id="rId8"/>
    <p:sldId id="302" r:id="rId9"/>
    <p:sldId id="303" r:id="rId10"/>
    <p:sldId id="304" r:id="rId11"/>
    <p:sldId id="289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8" autoAdjust="0"/>
    <p:restoredTop sz="94839" autoAdjust="0"/>
  </p:normalViewPr>
  <p:slideViewPr>
    <p:cSldViewPr snapToGrid="0" showGuides="1">
      <p:cViewPr varScale="1">
        <p:scale>
          <a:sx n="106" d="100"/>
          <a:sy n="106" d="100"/>
        </p:scale>
        <p:origin x="678" y="102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11/20/2025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45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CEBB5-6306-AA4C-B762-3F78CC6DC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397106-9016-8C3F-7E72-D80E8EEB0D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DE1DE-3013-6DB6-6C2F-7F02F40D2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4C9A2-EB62-EA50-6860-0ECBC751C4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442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DA573-E854-C199-3694-D0289125A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3C2CF0-F4AC-D66B-11A5-1595A232A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0A2346-6A9C-50D1-CEC5-59D0A9A91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50817-0E4F-A794-C3F8-E983F831F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778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181820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53" r:id="rId9"/>
    <p:sldLayoutId id="2147483663" r:id="rId10"/>
    <p:sldLayoutId id="214748366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2907973"/>
          </a:xfrm>
        </p:spPr>
        <p:txBody>
          <a:bodyPr lIns="0" anchor="b" anchorCtr="0">
            <a:normAutofit/>
          </a:bodyPr>
          <a:lstStyle/>
          <a:p>
            <a:pPr algn="ctr"/>
            <a:r>
              <a:rPr lang="en-US" altLang="zh-CN" dirty="0"/>
              <a:t>Big Data Tool: Apache Spark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</p:spPr>
        <p:txBody>
          <a:bodyPr/>
          <a:lstStyle/>
          <a:p>
            <a:r>
              <a:rPr lang="en-US" dirty="0"/>
              <a:t>Name: Naif </a:t>
            </a:r>
            <a:r>
              <a:rPr lang="en-US" dirty="0" err="1"/>
              <a:t>Alqahtani</a:t>
            </a:r>
            <a:endParaRPr lang="en-US" dirty="0"/>
          </a:p>
        </p:txBody>
      </p:sp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E83BB08F-E403-8715-0B24-AD9E4B72C80E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6522" r="6522"/>
          <a:stretch/>
        </p:blipFill>
        <p:spPr>
          <a:xfrm>
            <a:off x="6742557" y="821836"/>
            <a:ext cx="4405503" cy="5066346"/>
          </a:xfr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021C-3CEB-0FBA-DA89-C9C82E74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621" y="2655528"/>
            <a:ext cx="4114358" cy="1546944"/>
          </a:xfrm>
        </p:spPr>
        <p:txBody>
          <a:bodyPr anchor="t" anchorCtr="0"/>
          <a:lstStyle/>
          <a:p>
            <a:r>
              <a:rPr lang="en-US" dirty="0"/>
              <a:t>Framework Overview: Apache Spark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746B3-AFD9-641E-7CBF-9A783646B36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032187" y="622560"/>
            <a:ext cx="5967774" cy="5658416"/>
          </a:xfrm>
        </p:spPr>
        <p:txBody>
          <a:bodyPr anchor="t" anchorCtr="0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Purpose:</a:t>
            </a:r>
          </a:p>
          <a:p>
            <a:r>
              <a:rPr lang="en-US" dirty="0"/>
              <a:t>Large-scale data processing</a:t>
            </a:r>
          </a:p>
          <a:p>
            <a:r>
              <a:rPr lang="en-US" dirty="0"/>
              <a:t>Batch + streaming + ML + SQL in one unified framework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Architecture:</a:t>
            </a:r>
          </a:p>
          <a:p>
            <a:r>
              <a:rPr lang="en-US" dirty="0"/>
              <a:t>Distributed computing engine based on RDDs + DataFrames</a:t>
            </a:r>
          </a:p>
          <a:p>
            <a:r>
              <a:rPr lang="en-US" dirty="0"/>
              <a:t>Master–worker cluster model (Driver + Executors)</a:t>
            </a:r>
          </a:p>
          <a:p>
            <a:r>
              <a:rPr lang="en-US" dirty="0"/>
              <a:t>Optimized execution using Catalyst optimizer + Tungsten engine</a:t>
            </a:r>
          </a:p>
          <a:p>
            <a:pPr marL="0" indent="0">
              <a:buNone/>
            </a:pPr>
            <a:r>
              <a:rPr lang="en-US" b="1" dirty="0"/>
              <a:t>Capabilities:</a:t>
            </a:r>
          </a:p>
          <a:p>
            <a:r>
              <a:rPr lang="en-US" dirty="0"/>
              <a:t>Distributed ETL pipelines</a:t>
            </a:r>
          </a:p>
          <a:p>
            <a:r>
              <a:rPr lang="en-US" dirty="0"/>
              <a:t>Window functions, joins, aggregations</a:t>
            </a:r>
          </a:p>
          <a:p>
            <a:r>
              <a:rPr lang="en-US" dirty="0"/>
              <a:t>Machine learning </a:t>
            </a:r>
          </a:p>
          <a:p>
            <a:r>
              <a:rPr lang="en-US" dirty="0"/>
              <a:t>Fault tolerance &amp; lazy evaluation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59569-83D5-A20B-653C-B9D6C8D9816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48508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67" y="534154"/>
            <a:ext cx="4572000" cy="832919"/>
          </a:xfrm>
          <a:noFill/>
        </p:spPr>
        <p:txBody>
          <a:bodyPr anchor="t" anchorCtr="0">
            <a:noAutofit/>
          </a:bodyPr>
          <a:lstStyle/>
          <a:p>
            <a:r>
              <a:rPr lang="en-US" sz="4400" dirty="0"/>
              <a:t>Why Spark?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950614"/>
            <a:ext cx="5943600" cy="5386812"/>
          </a:xfrm>
          <a:noFill/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Why Spark for this Assignment?</a:t>
            </a:r>
          </a:p>
          <a:p>
            <a:r>
              <a:rPr lang="en-US" sz="2000" dirty="0"/>
              <a:t>Dataset is multi-table → Spark handles distributed joins perfectly</a:t>
            </a:r>
          </a:p>
          <a:p>
            <a:r>
              <a:rPr lang="en-US" sz="2000" dirty="0"/>
              <a:t>We needed advanced features (such as, partitioning)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Why Spark over alternatives?</a:t>
            </a:r>
          </a:p>
          <a:p>
            <a:r>
              <a:rPr lang="en-US" sz="2000" dirty="0"/>
              <a:t>Faster than Hadoop MapReduce (in-memory execution)</a:t>
            </a:r>
          </a:p>
          <a:p>
            <a:r>
              <a:rPr lang="en-US" sz="2000" dirty="0"/>
              <a:t>More mature + scalable than </a:t>
            </a:r>
            <a:r>
              <a:rPr lang="en-US" sz="2000" dirty="0" err="1"/>
              <a:t>Dask</a:t>
            </a:r>
            <a:r>
              <a:rPr lang="en-US" sz="2000" dirty="0"/>
              <a:t> for big data</a:t>
            </a:r>
          </a:p>
          <a:p>
            <a:r>
              <a:rPr lang="en-US" sz="2000" dirty="0"/>
              <a:t>Easier and more Python-friendly than Flink</a:t>
            </a:r>
          </a:p>
          <a:p>
            <a:r>
              <a:rPr lang="en-US" sz="2000" dirty="0"/>
              <a:t>Supports SQL, ML, and streaming in one tool</a:t>
            </a:r>
          </a:p>
          <a:p>
            <a:r>
              <a:rPr lang="en-US" sz="2000" dirty="0"/>
              <a:t>Used in real industry environments (Databricks, AWS EMR)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1BEA4-F784-90A7-5326-EF30FAB35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D32A8-A149-292B-4A72-11648EDE1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062" y="534154"/>
            <a:ext cx="4572000" cy="832919"/>
          </a:xfrm>
          <a:noFill/>
        </p:spPr>
        <p:txBody>
          <a:bodyPr anchor="t" anchorCtr="0">
            <a:noAutofit/>
          </a:bodyPr>
          <a:lstStyle/>
          <a:p>
            <a:r>
              <a:rPr lang="en-US" sz="4400" dirty="0"/>
              <a:t>Installation: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63E1F-EA19-E5C4-698D-A8FCEB269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482" y="1196233"/>
            <a:ext cx="5943600" cy="5386812"/>
          </a:xfrm>
          <a:noFill/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/>
              <a:t>Environment:</a:t>
            </a:r>
          </a:p>
          <a:p>
            <a:r>
              <a:rPr lang="en-US" sz="2000" dirty="0"/>
              <a:t>Google Colab</a:t>
            </a:r>
          </a:p>
          <a:p>
            <a:r>
              <a:rPr lang="en-US" sz="2000" dirty="0" err="1"/>
              <a:t>PySpark</a:t>
            </a:r>
            <a:endParaRPr lang="en-US" sz="2000" dirty="0"/>
          </a:p>
          <a:p>
            <a:r>
              <a:rPr lang="en-US" sz="2000" dirty="0" err="1"/>
              <a:t>KaggleHub</a:t>
            </a:r>
            <a:r>
              <a:rPr lang="en-US" sz="2000" dirty="0"/>
              <a:t> for downloading dataset</a:t>
            </a:r>
          </a:p>
          <a:p>
            <a:pPr marL="0" indent="0">
              <a:buNone/>
            </a:pPr>
            <a:r>
              <a:rPr lang="en-US" sz="2000" b="1" dirty="0"/>
              <a:t>Steps:</a:t>
            </a:r>
          </a:p>
          <a:p>
            <a:pPr>
              <a:buFont typeface="+mj-lt"/>
              <a:buAutoNum type="arabicPeriod"/>
            </a:pPr>
            <a:r>
              <a:rPr lang="en-US" dirty="0"/>
              <a:t>!pip install </a:t>
            </a:r>
            <a:r>
              <a:rPr lang="en-US" dirty="0" err="1"/>
              <a:t>pyspark</a:t>
            </a:r>
            <a:r>
              <a:rPr lang="en-US" dirty="0"/>
              <a:t> </a:t>
            </a:r>
            <a:r>
              <a:rPr lang="en-US" dirty="0" err="1"/>
              <a:t>kagglehub</a:t>
            </a:r>
            <a:r>
              <a:rPr lang="en-US" dirty="0"/>
              <a:t> pandas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Create </a:t>
            </a:r>
            <a:r>
              <a:rPr lang="en-US" dirty="0" err="1"/>
              <a:t>SparkSession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sz="2000" dirty="0"/>
              <a:t>Connect Spark UI using </a:t>
            </a:r>
            <a:r>
              <a:rPr lang="en-US" sz="2000" dirty="0" err="1"/>
              <a:t>ngrok</a:t>
            </a:r>
            <a:r>
              <a:rPr lang="en-US" sz="2000" dirty="0"/>
              <a:t> (Need Token)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Load the six CSVs into Spark DataFrames</a:t>
            </a:r>
          </a:p>
          <a:p>
            <a:pPr marL="0" indent="0">
              <a:buNone/>
            </a:pPr>
            <a:r>
              <a:rPr lang="en-US" sz="2000" b="1" dirty="0"/>
              <a:t>Challenges:</a:t>
            </a:r>
          </a:p>
          <a:p>
            <a:r>
              <a:rPr lang="en-US" sz="2000" dirty="0"/>
              <a:t>Spark UI access required </a:t>
            </a:r>
            <a:r>
              <a:rPr lang="en-US" sz="2000" dirty="0" err="1"/>
              <a:t>ngrok</a:t>
            </a:r>
            <a:r>
              <a:rPr lang="en-US" sz="2000" dirty="0"/>
              <a:t> auth token</a:t>
            </a:r>
          </a:p>
          <a:p>
            <a:r>
              <a:rPr lang="en-US" sz="2000" dirty="0"/>
              <a:t>Multiple CSVs with different schemas → careful joining</a:t>
            </a:r>
          </a:p>
          <a:p>
            <a:r>
              <a:rPr lang="en-US" sz="2000" dirty="0"/>
              <a:t>Managing missing values across many 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7D4F7-FCB5-49EA-7EC3-2A4681370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</a:t>
            </a:fld>
            <a:endParaRPr lang="en-US" dirty="0"/>
          </a:p>
        </p:txBody>
      </p:sp>
      <p:pic>
        <p:nvPicPr>
          <p:cNvPr id="2050" name="Picture 2" descr="Colab (Google) Logo">
            <a:extLst>
              <a:ext uri="{FF2B5EF4-FFF2-40B4-BE49-F238E27FC236}">
                <a16:creationId xmlns:a16="http://schemas.microsoft.com/office/drawing/2014/main" id="{0E1C3AB7-408F-7F5B-80DF-B809A8032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3577" y="389300"/>
            <a:ext cx="2933323" cy="2933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pache Spark Logo Vector EPS">
            <a:extLst>
              <a:ext uri="{FF2B5EF4-FFF2-40B4-BE49-F238E27FC236}">
                <a16:creationId xmlns:a16="http://schemas.microsoft.com/office/drawing/2014/main" id="{53D9941C-A022-6D7E-70F2-8E072B878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5169" y="1855961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250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6251-1EFA-B63E-27FE-5FE9BDDA3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D8A5D-95B6-ACBA-BCC0-BB180DB6C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061" y="534154"/>
            <a:ext cx="4930819" cy="832919"/>
          </a:xfrm>
          <a:noFill/>
        </p:spPr>
        <p:txBody>
          <a:bodyPr anchor="t" anchorCtr="0">
            <a:noAutofit/>
          </a:bodyPr>
          <a:lstStyle/>
          <a:p>
            <a:r>
              <a:rPr lang="en-US" sz="4400" dirty="0"/>
              <a:t>Experimentation: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3E0E3-135F-83A4-49AB-058D90DF1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129" y="1206462"/>
            <a:ext cx="4930819" cy="5538370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Used a Multi-table dataset for company employees</a:t>
            </a:r>
          </a:p>
          <a:p>
            <a:pPr marL="0" indent="0">
              <a:buNone/>
            </a:pPr>
            <a:r>
              <a:rPr lang="en-US" sz="2000" b="1" dirty="0"/>
              <a:t>Workloads Performed:</a:t>
            </a:r>
          </a:p>
          <a:p>
            <a:r>
              <a:rPr lang="en-US" sz="2000" dirty="0"/>
              <a:t>Multi-table distributed joins</a:t>
            </a:r>
          </a:p>
          <a:p>
            <a:r>
              <a:rPr lang="en-US" sz="2000" dirty="0"/>
              <a:t>ETL: cleaning, type casting, feature engineering</a:t>
            </a:r>
          </a:p>
          <a:p>
            <a:pPr marL="0" indent="0">
              <a:buNone/>
            </a:pPr>
            <a:r>
              <a:rPr lang="en-US" sz="2000" b="1" dirty="0"/>
              <a:t>Analytical tasks:</a:t>
            </a:r>
          </a:p>
          <a:p>
            <a:r>
              <a:rPr lang="en-US" sz="2000" dirty="0"/>
              <a:t>Salary by country, department, gender</a:t>
            </a:r>
          </a:p>
          <a:p>
            <a:r>
              <a:rPr lang="en-US" sz="2000" dirty="0"/>
              <a:t>Promotion impact</a:t>
            </a:r>
          </a:p>
          <a:p>
            <a:r>
              <a:rPr lang="en-US" sz="2000" dirty="0"/>
              <a:t>Experience vs salary</a:t>
            </a:r>
          </a:p>
          <a:p>
            <a:r>
              <a:rPr lang="en-US" sz="2000" dirty="0"/>
              <a:t>YOY salary change</a:t>
            </a:r>
          </a:p>
          <a:p>
            <a:r>
              <a:rPr lang="en-US" sz="2000" dirty="0"/>
              <a:t>Ranking top earners (window functions)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13B0B-24FD-3AB8-080F-9A9B73D0A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5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FCEC92D-54F2-E739-4B0A-C9A2543C39F0}"/>
              </a:ext>
            </a:extLst>
          </p:cNvPr>
          <p:cNvSpPr txBox="1">
            <a:spLocks/>
          </p:cNvSpPr>
          <p:nvPr/>
        </p:nvSpPr>
        <p:spPr>
          <a:xfrm>
            <a:off x="6419054" y="1206462"/>
            <a:ext cx="4930819" cy="553837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7472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Advanced Spark Features used:</a:t>
            </a:r>
          </a:p>
          <a:p>
            <a:r>
              <a:rPr lang="en-US" sz="2000" dirty="0"/>
              <a:t>Window functions</a:t>
            </a:r>
          </a:p>
          <a:p>
            <a:r>
              <a:rPr lang="en-US" sz="2000" dirty="0"/>
              <a:t>Parquet partitioning (by year)</a:t>
            </a:r>
          </a:p>
          <a:p>
            <a:r>
              <a:rPr lang="en-US" sz="2000" dirty="0"/>
              <a:t>Predicate pushdown</a:t>
            </a:r>
          </a:p>
          <a:p>
            <a:r>
              <a:rPr lang="en-US" sz="2000" dirty="0"/>
              <a:t>Shuffle partition tuning</a:t>
            </a:r>
          </a:p>
          <a:p>
            <a:r>
              <a:rPr lang="en-US" sz="2000" dirty="0"/>
              <a:t>Caching experiments</a:t>
            </a:r>
          </a:p>
        </p:txBody>
      </p:sp>
    </p:spTree>
    <p:extLst>
      <p:ext uri="{BB962C8B-B14F-4D97-AF65-F5344CB8AC3E}">
        <p14:creationId xmlns:p14="http://schemas.microsoft.com/office/powerpoint/2010/main" val="3674199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A7234-F043-113B-AC8E-27A438A78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70D5-9066-707E-631B-932FDEC9B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167" y="307818"/>
            <a:ext cx="4930819" cy="832919"/>
          </a:xfrm>
          <a:noFill/>
        </p:spPr>
        <p:txBody>
          <a:bodyPr anchor="t" anchorCtr="0">
            <a:noAutofit/>
          </a:bodyPr>
          <a:lstStyle/>
          <a:p>
            <a:r>
              <a:rPr lang="en-US" sz="4400" dirty="0"/>
              <a:t>Results: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C47DA-ECE2-FBA6-DFF8-CA0C7A47D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023" y="978950"/>
            <a:ext cx="5781993" cy="5604095"/>
          </a:xfrm>
          <a:noFill/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Key Findings:</a:t>
            </a:r>
          </a:p>
          <a:p>
            <a:r>
              <a:rPr lang="en-US" sz="2000" dirty="0"/>
              <a:t>Large salary differences across countries &amp; departments</a:t>
            </a:r>
          </a:p>
          <a:p>
            <a:r>
              <a:rPr lang="en-US" sz="2000" dirty="0"/>
              <a:t>Promotions correlate strongly with salary growth</a:t>
            </a:r>
          </a:p>
          <a:p>
            <a:r>
              <a:rPr lang="en-US" sz="2000" dirty="0"/>
              <a:t>Senior employees show higher YOY changes</a:t>
            </a:r>
          </a:p>
          <a:p>
            <a:r>
              <a:rPr lang="en-US" sz="2000" dirty="0"/>
              <a:t>Team size affects department-level salary trends</a:t>
            </a:r>
          </a:p>
          <a:p>
            <a:pPr marL="0" indent="0">
              <a:buNone/>
            </a:pPr>
            <a:r>
              <a:rPr lang="en-US" sz="2000" b="1" dirty="0"/>
              <a:t>Performance Results</a:t>
            </a:r>
          </a:p>
          <a:p>
            <a:r>
              <a:rPr lang="en-US" sz="2000" dirty="0"/>
              <a:t>Parquet partitioning → much faster filtered reads</a:t>
            </a:r>
          </a:p>
          <a:p>
            <a:r>
              <a:rPr lang="en-US" sz="2000" dirty="0"/>
              <a:t>Caching → improved repeated groupBy operations</a:t>
            </a:r>
          </a:p>
          <a:p>
            <a:r>
              <a:rPr lang="en-US" dirty="0"/>
              <a:t>Too few partitions </a:t>
            </a:r>
            <a:r>
              <a:rPr lang="en-US" sz="2000" dirty="0"/>
              <a:t>→ Low parallelism</a:t>
            </a:r>
          </a:p>
          <a:p>
            <a:r>
              <a:rPr lang="en-US" sz="2000" dirty="0"/>
              <a:t>Too many partitions → Overhead increases.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156FD-A0E2-B85B-E7DB-A40F5A906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6</a:t>
            </a:fld>
            <a:endParaRPr lang="en-US" dirty="0"/>
          </a:p>
        </p:txBody>
      </p:sp>
      <p:pic>
        <p:nvPicPr>
          <p:cNvPr id="3079" name="Picture 7">
            <a:extLst>
              <a:ext uri="{FF2B5EF4-FFF2-40B4-BE49-F238E27FC236}">
                <a16:creationId xmlns:a16="http://schemas.microsoft.com/office/drawing/2014/main" id="{0B937B86-ED9A-EB7B-D0F4-AA3902E2B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6016" y="1140737"/>
            <a:ext cx="540067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0476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18B61-3EB8-8356-FD59-5A177EE49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8187B-C0ED-8B90-C625-624050079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061" y="534154"/>
            <a:ext cx="4930819" cy="832919"/>
          </a:xfrm>
          <a:noFill/>
        </p:spPr>
        <p:txBody>
          <a:bodyPr anchor="t" anchorCtr="0">
            <a:noAutofit/>
          </a:bodyPr>
          <a:lstStyle/>
          <a:p>
            <a:r>
              <a:rPr lang="en-US" sz="4400" dirty="0"/>
              <a:t>Critical Analysis: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650FE-24EB-04CD-A80F-E5D70EB13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129" y="1206462"/>
            <a:ext cx="4930819" cy="5538370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Strengths:</a:t>
            </a:r>
          </a:p>
          <a:p>
            <a:r>
              <a:rPr lang="en-US" sz="2000" dirty="0"/>
              <a:t>Extremely scalable</a:t>
            </a:r>
          </a:p>
          <a:p>
            <a:r>
              <a:rPr lang="en-US" sz="2000" dirty="0"/>
              <a:t>Unified framework (SQL, ML, streaming)</a:t>
            </a:r>
          </a:p>
          <a:p>
            <a:r>
              <a:rPr lang="en-US" sz="2000" dirty="0"/>
              <a:t>Excellent for ETL and analytics</a:t>
            </a:r>
          </a:p>
          <a:p>
            <a:r>
              <a:rPr lang="en-US" sz="2000" dirty="0"/>
              <a:t>Optimized execution engine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F5E78-4892-62CF-F2A0-6E87E8E79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7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9A180CC-4F34-403A-3942-4C6BB4534CED}"/>
              </a:ext>
            </a:extLst>
          </p:cNvPr>
          <p:cNvSpPr txBox="1">
            <a:spLocks/>
          </p:cNvSpPr>
          <p:nvPr/>
        </p:nvSpPr>
        <p:spPr>
          <a:xfrm>
            <a:off x="6419054" y="1206462"/>
            <a:ext cx="4930819" cy="553837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7472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Limitations:</a:t>
            </a:r>
          </a:p>
          <a:p>
            <a:r>
              <a:rPr lang="en-US" sz="2000" dirty="0"/>
              <a:t>Requires careful memory management</a:t>
            </a:r>
          </a:p>
          <a:p>
            <a:r>
              <a:rPr lang="en-US" sz="2000" dirty="0"/>
              <a:t>Shuffle operations can be expensive</a:t>
            </a:r>
          </a:p>
          <a:p>
            <a:r>
              <a:rPr lang="en-US" sz="2000" dirty="0"/>
              <a:t>UI access in Colab requires tunneling</a:t>
            </a:r>
          </a:p>
          <a:p>
            <a:r>
              <a:rPr lang="en-US" sz="2000" dirty="0"/>
              <a:t>Overkill for small data</a:t>
            </a:r>
          </a:p>
        </p:txBody>
      </p:sp>
    </p:spTree>
    <p:extLst>
      <p:ext uri="{BB962C8B-B14F-4D97-AF65-F5344CB8AC3E}">
        <p14:creationId xmlns:p14="http://schemas.microsoft.com/office/powerpoint/2010/main" val="2119346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19"/>
            <a:ext cx="5394960" cy="4166405"/>
          </a:xfrm>
        </p:spPr>
        <p:txBody>
          <a:bodyPr anchor="ctr"/>
          <a:lstStyle/>
          <a:p>
            <a:pPr algn="ctr"/>
            <a:r>
              <a:rPr lang="en-US" dirty="0"/>
              <a:t>Thank you for listening</a:t>
            </a:r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dark</Template>
  <TotalTime>42</TotalTime>
  <Words>401</Words>
  <Application>Microsoft Office PowerPoint</Application>
  <PresentationFormat>Widescreen</PresentationFormat>
  <Paragraphs>91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等线</vt:lpstr>
      <vt:lpstr>Abadi</vt:lpstr>
      <vt:lpstr>Arial</vt:lpstr>
      <vt:lpstr>Calibri</vt:lpstr>
      <vt:lpstr>Posterama</vt:lpstr>
      <vt:lpstr>Posterama Text SemiBold</vt:lpstr>
      <vt:lpstr>Custom</vt:lpstr>
      <vt:lpstr>Big Data Tool: Apache Spark</vt:lpstr>
      <vt:lpstr>Framework Overview: Apache Spark </vt:lpstr>
      <vt:lpstr>Why Spark?</vt:lpstr>
      <vt:lpstr>Installation:</vt:lpstr>
      <vt:lpstr>Experimentation:</vt:lpstr>
      <vt:lpstr>Results:</vt:lpstr>
      <vt:lpstr>Critical Analysis: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نايف القحطاني</dc:creator>
  <cp:lastModifiedBy>نايف القحطاني</cp:lastModifiedBy>
  <cp:revision>2</cp:revision>
  <dcterms:created xsi:type="dcterms:W3CDTF">2025-11-15T12:27:31Z</dcterms:created>
  <dcterms:modified xsi:type="dcterms:W3CDTF">2025-11-19T21:12:36Z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